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6583680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4800" b="1">
                <a:solidFill>
                  <a:srgbClr val="D71E1E"/>
                </a:solidFill>
                <a:latin typeface="Consolas"/>
              </a:defRPr>
            </a:pPr>
            <a:r>
              <a:t>THE WHISTLER</a:t>
            </a:r>
          </a:p>
          <a:p>
            <a:pPr>
              <a:spcAft>
                <a:spcPts val="2000"/>
              </a:spcAft>
              <a:defRPr sz="2400" b="1">
                <a:solidFill>
                  <a:srgbClr val="FFFFFF"/>
                </a:solidFill>
                <a:latin typeface="Consolas"/>
              </a:defRPr>
            </a:pPr>
            <a:r>
              <a:t>Nightmare at the Cabin</a:t>
            </a:r>
          </a:p>
          <a:p>
            <a:pPr>
              <a:spcAft>
                <a:spcPts val="3600"/>
              </a:spcAft>
              <a:defRPr sz="1500">
                <a:solidFill>
                  <a:srgbClr val="EBB932"/>
                </a:solidFill>
                <a:latin typeface="Arial"/>
              </a:defRPr>
            </a:pPr>
            <a:r>
              <a:t>A 2D Top-Down Psychological Survival Horror Game</a:t>
            </a:r>
            <a:br/>
            <a:r>
              <a:t>Powered by Gale Framework (Python &amp; Pygame)</a:t>
            </a:r>
          </a:p>
          <a:p>
            <a:pPr>
              <a:spcAft>
                <a:spcPts val="400"/>
              </a:spcAft>
              <a:defRPr sz="1300" b="1">
                <a:solidFill>
                  <a:srgbClr val="B4B4B4"/>
                </a:solidFill>
                <a:latin typeface="Consolas"/>
              </a:defRPr>
            </a:pPr>
            <a:r>
              <a:t>DEVELOPED BY:</a:t>
            </a:r>
          </a:p>
          <a:p>
            <a:pPr>
              <a:spcAft>
                <a:spcPts val="1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Francisco Grimaldo  &amp;  Isaac Gómez</a:t>
            </a:r>
          </a:p>
          <a:p>
            <a:pPr>
              <a:defRPr sz="1300">
                <a:solidFill>
                  <a:srgbClr val="B4B4B4"/>
                </a:solidFill>
                <a:latin typeface="Arial"/>
              </a:defRPr>
            </a:pPr>
            <a:r>
              <a:t>Course: Video Game Programming (2026)</a:t>
            </a:r>
            <a:br/>
            <a:r>
              <a:t>Instructor: Prof. Alejandro Mujica</a:t>
            </a:r>
          </a:p>
        </p:txBody>
      </p:sp>
      <p:pic>
        <p:nvPicPr>
          <p:cNvPr id="3" name="Picture 2" descr="silbon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09728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onsolas"/>
              </a:defRPr>
            </a:pPr>
            <a:r>
              <a:t>Premise &amp; Inspiration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D71E1E"/>
                </a:solidFill>
                <a:latin typeface="Consolas"/>
              </a:defRPr>
            </a:pPr>
            <a:r>
              <a:t>NARRATIVE PREMISE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Stranded in the Fog: </a:t>
            </a:r>
            <a:r>
              <a:rPr sz="1200">
                <a:solidFill>
                  <a:srgbClr val="FFFFFF"/>
                </a:solidFill>
                <a:latin typeface="Arial"/>
              </a:rPr>
              <a:t>Andreas's car breaks down at night deep in the Venezuelan llanos. Knocked unconscious by a supernatural force, he awakens locked inside a dark, decrepit two-story cabin.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The Cursed Stalker: </a:t>
            </a:r>
            <a:r>
              <a:rPr sz="1200">
                <a:solidFill>
                  <a:srgbClr val="FFFFFF"/>
                </a:solidFill>
                <a:latin typeface="Arial"/>
              </a:rPr>
              <a:t>The cabin is hunted by El Silbón (The Whistler)—a 6-meter-tall vengeful folklore specter carrying a sack of his victim's bones.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The Escape Objective: </a:t>
            </a:r>
            <a:r>
              <a:rPr sz="1200">
                <a:solidFill>
                  <a:srgbClr val="FFFFFF"/>
                </a:solidFill>
                <a:latin typeface="Arial"/>
              </a:rPr>
              <a:t>The front door is secured by multiple mechanical and electrical locks. Andreas must explore, scavenge keys, solve puzzles, and escape before dawn.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500" b="1">
                <a:solidFill>
                  <a:srgbClr val="D71E1E"/>
                </a:solidFill>
                <a:latin typeface="Consolas"/>
              </a:defRPr>
            </a:pPr>
            <a:r>
              <a:t>INSPIRATIONS &amp; GENRE INFLUENCES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Venezuelan Folklore Paradox: </a:t>
            </a:r>
            <a:r>
              <a:rPr sz="1200">
                <a:solidFill>
                  <a:srgbClr val="FFFFFF"/>
                </a:solidFill>
                <a:latin typeface="Arial"/>
              </a:rPr>
              <a:t>Authentic acoustic mechanics: near whistling means the monster is distant, while faint, soft whistling means he is breathing right next to you.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Granny &amp; Resident Evil: </a:t>
            </a:r>
            <a:r>
              <a:rPr sz="1200">
                <a:solidFill>
                  <a:srgbClr val="FFFFFF"/>
                </a:solidFill>
                <a:latin typeface="Arial"/>
              </a:rPr>
              <a:t>Single-slot inventory management with floor swapping, recursive cabin shortcuts, and interlinked multi-step puzzle dependencies.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Alien: Isolation: </a:t>
            </a:r>
            <a:r>
              <a:rPr sz="1200">
                <a:solidFill>
                  <a:srgbClr val="FFFFFF"/>
                </a:solidFill>
                <a:latin typeface="Arial"/>
              </a:rPr>
              <a:t>Unscripted Director AI patrolling between rooms, responsive acoustic stalking, violent door-knocking alerts, and tense wardrobe hiding.</a:t>
            </a:r>
          </a:p>
        </p:txBody>
      </p:sp>
      <p:pic>
        <p:nvPicPr>
          <p:cNvPr id="4" name="Picture 3" descr="slide_enco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2313432"/>
          </a:xfrm>
          <a:prstGeom prst="rect">
            <a:avLst/>
          </a:prstGeom>
        </p:spPr>
      </p:pic>
      <p:pic>
        <p:nvPicPr>
          <p:cNvPr id="5" name="Picture 4" descr="slide_title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86200"/>
            <a:ext cx="4114800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onsolas"/>
              </a:defRPr>
            </a:pPr>
            <a:r>
              <a:t>Mechanics, Controls &amp; Gameplay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400800" cy="4937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D71E1E"/>
                </a:solidFill>
                <a:latin typeface="Consolas"/>
              </a:defRPr>
            </a:pPr>
            <a:r>
              <a:t>CORE GAMEPLAY MECHANICS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Acoustic Inversion &amp; Stealth: </a:t>
            </a:r>
            <a:r>
              <a:rPr sz="1200">
                <a:solidFill>
                  <a:srgbClr val="FFFFFF"/>
                </a:solidFill>
                <a:latin typeface="Arial"/>
              </a:rPr>
              <a:t>Sound defines survival. Soft whistling indicates extreme proximity. Andreas can throw stones to create acoustic decoys and lure the creature away.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Volumetric Lighting &amp; Battery Economy: </a:t>
            </a:r>
            <a:r>
              <a:rPr sz="1200">
                <a:solidFill>
                  <a:srgbClr val="FFFFFF"/>
                </a:solidFill>
                <a:latin typeface="Arial"/>
              </a:rPr>
              <a:t>Raycasted dynamic light cone with smooth directional tweening. Darkness triggers panic, while flashlight drains battery and attracts El Silbón.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Director AI FSM: </a:t>
            </a:r>
            <a:r>
              <a:rPr sz="1200">
                <a:solidFill>
                  <a:srgbClr val="FFFFFF"/>
                </a:solidFill>
                <a:latin typeface="Arial"/>
              </a:rPr>
              <a:t>Dynamic state hierarchy (Patrol -&gt; Investigate -&gt; Stalking/Knocking -&gt; Chase -&gt; Berserk) dynamically adapting to player noise and minigame errors.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EBB932"/>
                </a:solidFill>
                <a:latin typeface="Arial"/>
              </a:rPr>
              <a:t>• 5 Tactile Real-Time Minigames: </a:t>
            </a:r>
            <a:r>
              <a:rPr sz="1200">
                <a:solidFill>
                  <a:srgbClr val="FFFFFF"/>
                </a:solidFill>
                <a:latin typeface="Arial"/>
              </a:rPr>
              <a:t>Fuse Box wiring, Lockpick sweet-spot, Combination Safe dial, Electronic Keypad code, and Crowbar barricade removal (world does NOT pause!).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500" b="1">
                <a:solidFill>
                  <a:srgbClr val="D71E1E"/>
                </a:solidFill>
                <a:latin typeface="Consolas"/>
              </a:defRPr>
            </a:pPr>
            <a:r>
              <a:t>CONTROLS &amp; INPUT SYSTEM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• Movement: </a:t>
            </a:r>
            <a:r>
              <a:rPr sz="1100">
                <a:solidFill>
                  <a:srgbClr val="EBB932"/>
                </a:solidFill>
                <a:latin typeface="Consolas"/>
              </a:rPr>
              <a:t>W, A, S, D / Arrow Keys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• Interact / Inspect / Hide: </a:t>
            </a:r>
            <a:r>
              <a:rPr sz="1100">
                <a:solidFill>
                  <a:srgbClr val="EBB932"/>
                </a:solidFill>
                <a:latin typeface="Consolas"/>
              </a:rPr>
              <a:t>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• Flashlight Toggle: </a:t>
            </a:r>
            <a:r>
              <a:rPr sz="1100">
                <a:solidFill>
                  <a:srgbClr val="EBB932"/>
                </a:solidFill>
                <a:latin typeface="Consolas"/>
              </a:rPr>
              <a:t>F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• Throw Distraction Stone: </a:t>
            </a:r>
            <a:r>
              <a:rPr sz="1100">
                <a:solidFill>
                  <a:srgbClr val="EBB932"/>
                </a:solidFill>
                <a:latin typeface="Consolas"/>
              </a:rPr>
              <a:t>SPACE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• Drop Held Item: </a:t>
            </a:r>
            <a:r>
              <a:rPr sz="1100">
                <a:solidFill>
                  <a:srgbClr val="EBB932"/>
                </a:solidFill>
                <a:latin typeface="Consolas"/>
              </a:rPr>
              <a:t>G (Single-slot Granny inventory)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• Pause / Close Minigame: </a:t>
            </a:r>
            <a:r>
              <a:rPr sz="1100">
                <a:solidFill>
                  <a:srgbClr val="EBB932"/>
                </a:solidFill>
                <a:latin typeface="Consolas"/>
              </a:rPr>
              <a:t>ESC</a:t>
            </a:r>
          </a:p>
          <a:p>
            <a:pPr>
              <a:spcAft>
                <a:spcPts val="300"/>
              </a:spcAft>
            </a:pPr>
            <a:r>
              <a:rPr b="1" sz="1100">
                <a:solidFill>
                  <a:srgbClr val="FFFFFF"/>
                </a:solidFill>
                <a:latin typeface="Arial"/>
              </a:rPr>
              <a:t>• Language Toggle &amp; Fullscreen: </a:t>
            </a:r>
            <a:r>
              <a:rPr sz="1100">
                <a:solidFill>
                  <a:srgbClr val="EBB932"/>
                </a:solidFill>
                <a:latin typeface="Consolas"/>
              </a:rPr>
              <a:t>L (EN/ES) | F11 / Alt+Enter (Fullscreen)</a:t>
            </a:r>
          </a:p>
        </p:txBody>
      </p:sp>
      <p:pic>
        <p:nvPicPr>
          <p:cNvPr id="4" name="Picture 3" descr="slide_minigame_keyp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114800" cy="2313432"/>
          </a:xfrm>
          <a:prstGeom prst="rect">
            <a:avLst/>
          </a:prstGeom>
        </p:spPr>
      </p:pic>
      <p:pic>
        <p:nvPicPr>
          <p:cNvPr id="5" name="Picture 4" descr="slide_minigame_fuse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886200"/>
            <a:ext cx="4114800" cy="2313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